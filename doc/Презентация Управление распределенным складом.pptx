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62" r:id="rId3"/>
    <p:sldMasterId id="2147483666" r:id="rId4"/>
    <p:sldMasterId id="2147483668" r:id="rId5"/>
    <p:sldMasterId id="2147483682" r:id="rId6"/>
    <p:sldMasterId id="2147483696" r:id="rId7"/>
    <p:sldMasterId id="2147483698" r:id="rId8"/>
    <p:sldMasterId id="2147483700" r:id="rId9"/>
    <p:sldMasterId id="2147483702" r:id="rId10"/>
    <p:sldMasterId id="2147483704" r:id="rId11"/>
    <p:sldMasterId id="2147483706" r:id="rId12"/>
    <p:sldMasterId id="2147483708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71" r:id="rId20"/>
    <p:sldId id="266" r:id="rId21"/>
    <p:sldId id="268" r:id="rId22"/>
    <p:sldId id="269" r:id="rId23"/>
    <p:sldId id="267" r:id="rId24"/>
    <p:sldId id="270" r:id="rId25"/>
    <p:sldId id="272" r:id="rId26"/>
    <p:sldId id="273" r:id="rId27"/>
    <p:sldId id="274" r:id="rId28"/>
    <p:sldId id="263" r:id="rId29"/>
    <p:sldId id="264" r:id="rId30"/>
    <p:sldId id="265" r:id="rId31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70E84C-6F95-42F4-A5B2-5151A9F23341}" v="3803" dt="2025-12-05T16:40:02.2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8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1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microsoft.com/office/2015/10/relationships/revisionInfo" Target="revisionInfo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FDB08A57-E027-493B-9C47-9E31ABF02B4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9C2057B-D2A0-426F-B24A-D5E12DC26AF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979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B1974D3-F585-4E9F-A01A-721DC0910DD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979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569C8E5-94D7-41E9-9E30-F84119A3F6F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C16C3229-F787-4ADB-A265-39713819C76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E4210445-B69D-4D70-B425-E8B3FAB46F4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D127033-7FF2-4C8C-B291-19CE3720202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0000CF7-CBE2-4B74-BCB3-6D82372CA5B7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ru-RU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ru-RU" sz="31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5120" cy="114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ru-RU" sz="36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98818BF-11CA-4DE7-86F5-A95EC1F41824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ru-RU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ru-RU" sz="31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0400" y="142632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C47350C-3ADD-4AB3-A24B-29FCC600714D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ru-RU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FD69B9C-010A-40D1-958E-1443F684AC5C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ru-RU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title"/>
          </p:nvPr>
        </p:nvSpPr>
        <p:spPr>
          <a:xfrm>
            <a:off x="500400" y="821160"/>
            <a:ext cx="8520120" cy="1983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4440" y="1793880"/>
            <a:ext cx="7935120" cy="1555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ru-RU" sz="45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3583203-B1FE-4535-88F2-434202C3B232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ru-RU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00400" y="1720800"/>
            <a:ext cx="7935120" cy="1280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ru-RU" sz="36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2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E648369-3056-4FF3-A9C0-C054D36D2408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ru-RU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A66FA12-6071-4465-8CE6-236BA2A82093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ru-RU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979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ru-RU" sz="31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979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ru-RU" sz="31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0" name="Google Shape;129;p31"/>
          <p:cNvSpPr/>
          <p:nvPr/>
        </p:nvSpPr>
        <p:spPr>
          <a:xfrm>
            <a:off x="606240" y="1441080"/>
            <a:ext cx="7938360" cy="3564720"/>
          </a:xfrm>
          <a:prstGeom prst="rect">
            <a:avLst/>
          </a:prstGeom>
          <a:solidFill>
            <a:srgbClr val="FBFB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51600" y="396360"/>
            <a:ext cx="770580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ru-RU" sz="46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ru-RU" sz="31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5" name="Google Shape;135;p33"/>
          <p:cNvSpPr/>
          <p:nvPr/>
        </p:nvSpPr>
        <p:spPr>
          <a:xfrm>
            <a:off x="590400" y="1365120"/>
            <a:ext cx="7988040" cy="341208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ru-RU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ru-RU" sz="31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8" name="Google Shape;140;p34"/>
          <p:cNvSpPr/>
          <p:nvPr/>
        </p:nvSpPr>
        <p:spPr>
          <a:xfrm>
            <a:off x="606240" y="2144160"/>
            <a:ext cx="7938360" cy="2464200"/>
          </a:xfrm>
          <a:prstGeom prst="rect">
            <a:avLst/>
          </a:prstGeom>
          <a:solidFill>
            <a:srgbClr val="FBFB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46;p35"/>
          <p:cNvPicPr/>
          <p:nvPr/>
        </p:nvPicPr>
        <p:blipFill>
          <a:blip r:embed="rId2"/>
          <a:srcRect l="18595" r="18589"/>
          <a:stretch/>
        </p:blipFill>
        <p:spPr>
          <a:xfrm>
            <a:off x="-75960" y="-3216960"/>
            <a:ext cx="9408240" cy="8360280"/>
          </a:xfrm>
          <a:prstGeom prst="rect">
            <a:avLst/>
          </a:prstGeom>
          <a:ln w="0">
            <a:noFill/>
          </a:ln>
        </p:spPr>
      </p:pic>
      <p:sp>
        <p:nvSpPr>
          <p:cNvPr id="101" name="Google Shape;147;p35"/>
          <p:cNvSpPr/>
          <p:nvPr/>
        </p:nvSpPr>
        <p:spPr>
          <a:xfrm>
            <a:off x="433080" y="1535040"/>
            <a:ext cx="758412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ru" sz="4000" b="1" strike="noStrike" spc="-1">
                <a:solidFill>
                  <a:schemeClr val="lt1"/>
                </a:solidFill>
                <a:latin typeface="Roboto"/>
                <a:ea typeface="Roboto"/>
              </a:rPr>
              <a:t>Управление распределенным складом</a:t>
            </a:r>
            <a:endParaRPr lang="ru-RU" sz="4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Google Shape;148;p35"/>
          <p:cNvPicPr/>
          <p:nvPr/>
        </p:nvPicPr>
        <p:blipFill>
          <a:blip r:embed="rId3"/>
          <a:stretch/>
        </p:blipFill>
        <p:spPr>
          <a:xfrm>
            <a:off x="7913880" y="268920"/>
            <a:ext cx="821880" cy="284400"/>
          </a:xfrm>
          <a:prstGeom prst="rect">
            <a:avLst/>
          </a:prstGeom>
          <a:ln w="0">
            <a:noFill/>
          </a:ln>
        </p:spPr>
      </p:pic>
      <p:sp>
        <p:nvSpPr>
          <p:cNvPr id="103" name="Google Shape;149;p35"/>
          <p:cNvSpPr/>
          <p:nvPr/>
        </p:nvSpPr>
        <p:spPr>
          <a:xfrm>
            <a:off x="629640" y="4138200"/>
            <a:ext cx="2920320" cy="42624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ru-RU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Google Shape;150;p35"/>
          <p:cNvSpPr/>
          <p:nvPr/>
        </p:nvSpPr>
        <p:spPr>
          <a:xfrm>
            <a:off x="885960" y="4127400"/>
            <a:ext cx="2407320" cy="44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ru" sz="1900" b="0" strike="noStrike" spc="-1">
                <a:solidFill>
                  <a:srgbClr val="FFFFFF"/>
                </a:solidFill>
                <a:latin typeface="Roboto Medium"/>
                <a:ea typeface="Roboto Medium"/>
              </a:rPr>
              <a:t>Архитектор 1С</a:t>
            </a:r>
            <a:endParaRPr lang="ru-RU" sz="1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Google Shape;151;p35"/>
          <p:cNvPicPr/>
          <p:nvPr/>
        </p:nvPicPr>
        <p:blipFill>
          <a:blip r:embed="rId4"/>
          <a:stretch/>
        </p:blipFill>
        <p:spPr>
          <a:xfrm>
            <a:off x="7409880" y="3083760"/>
            <a:ext cx="1548000" cy="1668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744120" y="1422720"/>
            <a:ext cx="7935120" cy="1402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4000" b="1" strike="noStrike" spc="-1">
                <a:solidFill>
                  <a:schemeClr val="dk1"/>
                </a:solidFill>
                <a:latin typeface="Roboto"/>
                <a:ea typeface="Roboto"/>
              </a:rPr>
              <a:t>Меня хорошо видно</a:t>
            </a:r>
            <a:endParaRPr lang="ru-RU" sz="40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4000" b="1" strike="noStrike" spc="-1">
                <a:solidFill>
                  <a:schemeClr val="dk1"/>
                </a:solidFill>
                <a:latin typeface="Roboto"/>
                <a:ea typeface="Roboto"/>
              </a:rPr>
              <a:t>&amp; слышно?</a:t>
            </a:r>
            <a:endParaRPr lang="ru-RU" sz="4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7" name="Google Shape;157;p36"/>
          <p:cNvPicPr/>
          <p:nvPr/>
        </p:nvPicPr>
        <p:blipFill>
          <a:blip r:embed="rId2"/>
          <a:stretch/>
        </p:blipFill>
        <p:spPr>
          <a:xfrm>
            <a:off x="1544040" y="3841200"/>
            <a:ext cx="545400" cy="545400"/>
          </a:xfrm>
          <a:prstGeom prst="rect">
            <a:avLst/>
          </a:prstGeom>
          <a:ln w="0">
            <a:noFill/>
          </a:ln>
        </p:spPr>
      </p:pic>
      <p:pic>
        <p:nvPicPr>
          <p:cNvPr id="108" name="Google Shape;158;p36"/>
          <p:cNvPicPr/>
          <p:nvPr/>
        </p:nvPicPr>
        <p:blipFill>
          <a:blip r:embed="rId3"/>
          <a:stretch/>
        </p:blipFill>
        <p:spPr>
          <a:xfrm>
            <a:off x="825480" y="3890880"/>
            <a:ext cx="536760" cy="536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500400" y="313560"/>
            <a:ext cx="8520120" cy="1841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000" b="1" strike="noStrike" spc="-1">
                <a:solidFill>
                  <a:schemeClr val="dk1"/>
                </a:solidFill>
                <a:latin typeface="Roboto"/>
                <a:ea typeface="Roboto"/>
              </a:rPr>
              <a:t>Защита проекта</a:t>
            </a:r>
            <a:endParaRPr lang="ru-RU" sz="30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000" b="1" strike="noStrike" spc="-1">
                <a:solidFill>
                  <a:schemeClr val="dk1"/>
                </a:solidFill>
                <a:latin typeface="Roboto"/>
                <a:ea typeface="Roboto"/>
              </a:rPr>
              <a:t>Тема: Управление распределенным складом</a:t>
            </a:r>
            <a:endParaRPr lang="ru-RU" sz="30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Google Shape;165;p37"/>
          <p:cNvSpPr/>
          <p:nvPr/>
        </p:nvSpPr>
        <p:spPr>
          <a:xfrm>
            <a:off x="3899520" y="2336400"/>
            <a:ext cx="3701520" cy="37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ru" sz="2300" b="1" strike="noStrike" spc="-1">
                <a:solidFill>
                  <a:srgbClr val="3F299A"/>
                </a:solidFill>
                <a:latin typeface="Roboto"/>
                <a:ea typeface="Roboto"/>
              </a:rPr>
              <a:t>Гыдилика Александр</a:t>
            </a:r>
            <a:endParaRPr lang="ru-RU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Google Shape;166;p37"/>
          <p:cNvSpPr/>
          <p:nvPr/>
        </p:nvSpPr>
        <p:spPr>
          <a:xfrm>
            <a:off x="3899520" y="2893320"/>
            <a:ext cx="3192840" cy="6456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91440" rIns="91440" bIns="91440" anchor="t">
            <a:spAutoFit/>
          </a:bodyPr>
          <a:lstStyle/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ru" sz="1300" spc="-1" dirty="0">
                <a:solidFill>
                  <a:srgbClr val="000000"/>
                </a:solidFill>
                <a:latin typeface="Roboto Medium"/>
                <a:ea typeface="Roboto Medium"/>
              </a:rPr>
              <a:t>Ведущий программист-разработчик</a:t>
            </a:r>
            <a:r>
              <a:rPr lang="ru" sz="1300" b="0" strike="noStrike" spc="-1" dirty="0">
                <a:solidFill>
                  <a:srgbClr val="000000"/>
                </a:solidFill>
                <a:latin typeface="Roboto Medium"/>
                <a:ea typeface="Roboto Medium"/>
              </a:rPr>
              <a:t> 1С</a:t>
            </a:r>
            <a:endParaRPr lang="ru-RU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Рисунок 2" descr="Изображение выглядит как Человеческое лицо, человек, одежда, сте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31DA976-54F9-1DBC-F5C5-2D7376A87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58" y="2334786"/>
            <a:ext cx="2351816" cy="23626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1CBDD4-C2CE-30DC-BF39-B711348DE895}"/>
              </a:ext>
            </a:extLst>
          </p:cNvPr>
          <p:cNvSpPr txBox="1"/>
          <p:nvPr/>
        </p:nvSpPr>
        <p:spPr>
          <a:xfrm>
            <a:off x="3901347" y="3544880"/>
            <a:ext cx="274319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000" dirty="0">
                <a:cs typeface="Arial"/>
              </a:rPr>
              <a:t>17 лет работы в сфере 1С</a:t>
            </a:r>
            <a:endParaRPr lang="ru-RU" sz="1000"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538560" y="348840"/>
            <a:ext cx="8520120" cy="1041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100" b="1" strike="noStrike" spc="-1">
                <a:solidFill>
                  <a:schemeClr val="dk1"/>
                </a:solidFill>
                <a:latin typeface="Roboto"/>
                <a:ea typeface="Roboto"/>
              </a:rPr>
              <a:t>План защиты</a:t>
            </a:r>
            <a:endParaRPr lang="ru-RU" sz="3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Google Shape;172;p38"/>
          <p:cNvSpPr/>
          <p:nvPr/>
        </p:nvSpPr>
        <p:spPr>
          <a:xfrm>
            <a:off x="1137960" y="1491480"/>
            <a:ext cx="3384720" cy="3758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blurRad="57240" dist="19080" dir="5400000" algn="bl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2000" tIns="91440" rIns="162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400" b="0" strike="noStrike" spc="-1">
                <a:solidFill>
                  <a:schemeClr val="dk1"/>
                </a:solidFill>
                <a:latin typeface="Roboto"/>
                <a:ea typeface="Roboto"/>
              </a:rPr>
              <a:t>Цель и задачи проекта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Google Shape;173;p38"/>
          <p:cNvSpPr/>
          <p:nvPr/>
        </p:nvSpPr>
        <p:spPr>
          <a:xfrm>
            <a:off x="1137960" y="2071440"/>
            <a:ext cx="3384720" cy="3758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blurRad="57240" dist="19080" dir="5400000" algn="bl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2000" tIns="91440" rIns="162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400" b="0" strike="noStrike" spc="-1">
                <a:solidFill>
                  <a:schemeClr val="dk1"/>
                </a:solidFill>
                <a:latin typeface="Roboto"/>
                <a:ea typeface="Roboto"/>
              </a:rPr>
              <a:t>Какие технологии использовались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Google Shape;174;p38"/>
          <p:cNvSpPr/>
          <p:nvPr/>
        </p:nvSpPr>
        <p:spPr>
          <a:xfrm>
            <a:off x="1137960" y="2651760"/>
            <a:ext cx="3384720" cy="3758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blurRad="57240" dist="19080" dir="5400000" algn="bl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2000" tIns="91440" rIns="162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400" b="0" strike="noStrike" spc="-1">
                <a:solidFill>
                  <a:schemeClr val="dk1"/>
                </a:solidFill>
                <a:latin typeface="Roboto"/>
                <a:ea typeface="Roboto"/>
              </a:rPr>
              <a:t>Что получилось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175;p38"/>
          <p:cNvSpPr/>
          <p:nvPr/>
        </p:nvSpPr>
        <p:spPr>
          <a:xfrm>
            <a:off x="1137960" y="3246120"/>
            <a:ext cx="3384720" cy="3758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blurRad="57240" dist="19080" dir="5400000" algn="bl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2000" tIns="91440" rIns="162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400" b="0" strike="noStrike" spc="-1">
                <a:solidFill>
                  <a:schemeClr val="dk1"/>
                </a:solidFill>
                <a:latin typeface="Roboto"/>
                <a:ea typeface="Roboto"/>
              </a:rPr>
              <a:t>Выводы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8" name="Google Shape;176;p38"/>
          <p:cNvCxnSpPr>
            <a:stCxn id="114" idx="1"/>
            <a:endCxn id="115" idx="1"/>
          </p:cNvCxnSpPr>
          <p:nvPr/>
        </p:nvCxnSpPr>
        <p:spPr>
          <a:xfrm rot="10800000">
            <a:off x="1137960" y="1679040"/>
            <a:ext cx="360" cy="580320"/>
          </a:xfrm>
          <a:prstGeom prst="bentConnector3">
            <a:avLst>
              <a:gd name="adj1" fmla="val -79300000"/>
            </a:avLst>
          </a:prstGeom>
          <a:ln w="9525">
            <a:solidFill>
              <a:srgbClr val="3F299A"/>
            </a:solidFill>
            <a:prstDash val="dash"/>
            <a:round/>
          </a:ln>
        </p:spPr>
      </p:cxnSp>
      <p:cxnSp>
        <p:nvCxnSpPr>
          <p:cNvPr id="119" name="Google Shape;177;p38"/>
          <p:cNvCxnSpPr>
            <a:stCxn id="115" idx="1"/>
            <a:endCxn id="116" idx="1"/>
          </p:cNvCxnSpPr>
          <p:nvPr/>
        </p:nvCxnSpPr>
        <p:spPr>
          <a:xfrm rot="10800000">
            <a:off x="1137960" y="2259360"/>
            <a:ext cx="360" cy="580680"/>
          </a:xfrm>
          <a:prstGeom prst="bentConnector3">
            <a:avLst>
              <a:gd name="adj1" fmla="val -79300000"/>
            </a:avLst>
          </a:prstGeom>
          <a:ln w="9525">
            <a:solidFill>
              <a:srgbClr val="3F299A"/>
            </a:solidFill>
            <a:prstDash val="dash"/>
            <a:round/>
          </a:ln>
        </p:spPr>
      </p:cxnSp>
      <p:cxnSp>
        <p:nvCxnSpPr>
          <p:cNvPr id="120" name="Google Shape;178;p38"/>
          <p:cNvCxnSpPr>
            <a:stCxn id="116" idx="1"/>
            <a:endCxn id="117" idx="1"/>
          </p:cNvCxnSpPr>
          <p:nvPr/>
        </p:nvCxnSpPr>
        <p:spPr>
          <a:xfrm rot="10800000">
            <a:off x="1137960" y="2839320"/>
            <a:ext cx="360" cy="594720"/>
          </a:xfrm>
          <a:prstGeom prst="bentConnector3">
            <a:avLst>
              <a:gd name="adj1" fmla="val -79300000"/>
            </a:avLst>
          </a:prstGeom>
          <a:ln w="9525">
            <a:solidFill>
              <a:srgbClr val="3F299A"/>
            </a:solidFill>
            <a:prstDash val="dash"/>
            <a:round/>
          </a:ln>
        </p:spPr>
      </p:cxnSp>
      <p:cxnSp>
        <p:nvCxnSpPr>
          <p:cNvPr id="121" name="Google Shape;179;p38"/>
          <p:cNvCxnSpPr>
            <a:stCxn id="117" idx="1"/>
            <a:endCxn id="122" idx="1"/>
          </p:cNvCxnSpPr>
          <p:nvPr/>
        </p:nvCxnSpPr>
        <p:spPr>
          <a:xfrm rot="10800000">
            <a:off x="1137960" y="3433680"/>
            <a:ext cx="360" cy="527040"/>
          </a:xfrm>
          <a:prstGeom prst="bentConnector3">
            <a:avLst>
              <a:gd name="adj1" fmla="val -79300000"/>
            </a:avLst>
          </a:prstGeom>
          <a:ln w="9525">
            <a:solidFill>
              <a:srgbClr val="3F299A"/>
            </a:solidFill>
            <a:prstDash val="dash"/>
            <a:round/>
          </a:ln>
        </p:spPr>
      </p:cxnSp>
      <p:sp>
        <p:nvSpPr>
          <p:cNvPr id="122" name="Google Shape;180;p38"/>
          <p:cNvSpPr/>
          <p:nvPr/>
        </p:nvSpPr>
        <p:spPr>
          <a:xfrm>
            <a:off x="1137960" y="3772800"/>
            <a:ext cx="3384720" cy="3758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blurRad="57240" dist="19080" dir="5400000" algn="bl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2000" tIns="91440" rIns="162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400" b="0" strike="noStrike" spc="-1">
                <a:solidFill>
                  <a:schemeClr val="dk1"/>
                </a:solidFill>
                <a:latin typeface="Roboto"/>
                <a:ea typeface="Roboto"/>
              </a:rPr>
              <a:t>Вопросы и рекомендации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85;p39"/>
          <p:cNvSpPr/>
          <p:nvPr/>
        </p:nvSpPr>
        <p:spPr>
          <a:xfrm>
            <a:off x="560520" y="324720"/>
            <a:ext cx="8520120" cy="130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3000" b="1" strike="noStrike" spc="-1">
                <a:solidFill>
                  <a:srgbClr val="000000"/>
                </a:solidFill>
                <a:latin typeface="Roboto"/>
                <a:ea typeface="Roboto"/>
              </a:rPr>
              <a:t>Цель и задачи проекта</a:t>
            </a:r>
            <a:endParaRPr lang="ru-RU" sz="30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4" name="Google Shape;186;p39"/>
          <p:cNvGraphicFramePr/>
          <p:nvPr>
            <p:extLst>
              <p:ext uri="{D42A27DB-BD31-4B8C-83A1-F6EECF244321}">
                <p14:modId xmlns:p14="http://schemas.microsoft.com/office/powerpoint/2010/main" val="142155775"/>
              </p:ext>
            </p:extLst>
          </p:nvPr>
        </p:nvGraphicFramePr>
        <p:xfrm>
          <a:off x="952560" y="2382120"/>
          <a:ext cx="7238520" cy="2225252"/>
        </p:xfrm>
        <a:graphic>
          <a:graphicData uri="http://schemas.openxmlformats.org/drawingml/2006/table">
            <a:tbl>
              <a:tblPr/>
              <a:tblGrid>
                <a:gridCol w="48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strike="noStrike" spc="-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1.</a:t>
                      </a:r>
                      <a:endParaRPr lang="ru-RU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14999"/>
                        </a:lnSpc>
                        <a:buNone/>
                      </a:pPr>
                      <a:r>
                        <a:rPr lang="ru" sz="1400" b="0" strike="noStrike" spc="-1" dirty="0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Реализация складского учета товара (приемка, перемещение, списание)</a:t>
                      </a:r>
                      <a:endParaRPr lang="ru-RU" dirty="0"/>
                    </a:p>
                  </a:txBody>
                  <a:tcPr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strike="noStrike" spc="-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2.</a:t>
                      </a:r>
                      <a:endParaRPr lang="ru-RU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14999"/>
                        </a:lnSpc>
                        <a:buNone/>
                      </a:pPr>
                      <a:r>
                        <a:rPr lang="ru" sz="1400" b="0" strike="noStrike" spc="-1" dirty="0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Фактическое выполнение складских операций на распределенных узлах</a:t>
                      </a:r>
                    </a:p>
                  </a:txBody>
                  <a:tcPr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strike="noStrike" spc="-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3.</a:t>
                      </a:r>
                      <a:endParaRPr lang="ru-RU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ru" sz="1400" b="0" strike="noStrike" spc="-1" dirty="0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Возможность оперативного увеличения количества узлов (складов)</a:t>
                      </a:r>
                    </a:p>
                  </a:txBody>
                  <a:tcPr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strike="noStrike" spc="-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4.</a:t>
                      </a:r>
                      <a:endParaRPr lang="ru-RU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14999"/>
                        </a:lnSpc>
                        <a:buNone/>
                      </a:pPr>
                      <a:r>
                        <a:rPr lang="ru" sz="1400" b="0" strike="noStrike" spc="-1" dirty="0">
                          <a:solidFill>
                            <a:schemeClr val="dk1"/>
                          </a:solidFill>
                          <a:latin typeface="Roboto"/>
                          <a:ea typeface="Roboto"/>
                        </a:rPr>
                        <a:t>Отражение результатов работы со складскими документами в центральной базе</a:t>
                      </a:r>
                      <a:endParaRPr lang="ru-RU" dirty="0"/>
                    </a:p>
                  </a:txBody>
                  <a:tcPr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i="0" u="none" strike="noStrike" spc="-1" noProof="0" dirty="0">
                          <a:solidFill>
                            <a:srgbClr val="3F299A"/>
                          </a:solidFill>
                          <a:latin typeface="Roboto"/>
                        </a:rPr>
                        <a:t>5.</a:t>
                      </a:r>
                      <a:endParaRPr lang="ru-RU" sz="1600" b="0" i="0" u="none" strike="noStrike" spc="-1" noProof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strike="noStrike" spc="-1" dirty="0">
                          <a:solidFill>
                            <a:srgbClr val="000000"/>
                          </a:solidFill>
                          <a:latin typeface="Roboto"/>
                        </a:rPr>
                        <a:t>Применение механизмов архитектурного проектирования, разработки, тестирования</a:t>
                      </a:r>
                    </a:p>
                  </a:txBody>
                  <a:tcPr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5" name="Google Shape;187;p39"/>
          <p:cNvSpPr/>
          <p:nvPr/>
        </p:nvSpPr>
        <p:spPr>
          <a:xfrm>
            <a:off x="1628280" y="1386360"/>
            <a:ext cx="5887080" cy="66168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blurRad="57240" dist="19080" dir="5400000" algn="bl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2000" tIns="91440" rIns="162000" bIns="9144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ru" sz="1500" b="0" strike="noStrike" spc="-1" dirty="0">
                <a:solidFill>
                  <a:schemeClr val="dk1"/>
                </a:solidFill>
                <a:latin typeface="Roboto Medium"/>
                <a:ea typeface="Roboto Medium"/>
              </a:rPr>
              <a:t>Цель проекта: </a:t>
            </a:r>
            <a:r>
              <a:rPr lang="ru" sz="1500" spc="-1" dirty="0">
                <a:solidFill>
                  <a:schemeClr val="dk1"/>
                </a:solidFill>
                <a:latin typeface="Roboto Medium"/>
                <a:ea typeface="Roboto Medium"/>
              </a:rPr>
              <a:t>проект предусматривает ведение складского учета в распределенных узлах и управляемого из центрального офиса</a:t>
            </a:r>
            <a:endParaRPr lang="ru-RU" sz="1500" b="0" strike="noStrike" spc="-1" dirty="0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000" b="1" strike="noStrike" spc="-1">
                <a:solidFill>
                  <a:schemeClr val="dk1"/>
                </a:solidFill>
                <a:latin typeface="Roboto"/>
                <a:ea typeface="Roboto"/>
              </a:rPr>
              <a:t>Какие технологии использовались</a:t>
            </a:r>
            <a:endParaRPr lang="ru-RU" sz="30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ru-RU" sz="30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3" name="Google Shape;199;p40"/>
          <p:cNvGraphicFramePr/>
          <p:nvPr>
            <p:extLst>
              <p:ext uri="{D42A27DB-BD31-4B8C-83A1-F6EECF244321}">
                <p14:modId xmlns:p14="http://schemas.microsoft.com/office/powerpoint/2010/main" val="916869946"/>
              </p:ext>
            </p:extLst>
          </p:nvPr>
        </p:nvGraphicFramePr>
        <p:xfrm>
          <a:off x="952560" y="1897920"/>
          <a:ext cx="7238520" cy="2285279"/>
        </p:xfrm>
        <a:graphic>
          <a:graphicData uri="http://schemas.openxmlformats.org/drawingml/2006/table">
            <a:tbl>
              <a:tblPr/>
              <a:tblGrid>
                <a:gridCol w="48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strike="noStrike" spc="-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1.</a:t>
                      </a:r>
                      <a:endParaRPr lang="ru-RU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1С предприятие 8, 1С: EDT</a:t>
                      </a:r>
                    </a:p>
                  </a:txBody>
                  <a:tcPr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strike="noStrike" spc="-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2.</a:t>
                      </a:r>
                      <a:endParaRPr lang="ru-RU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strike="noStrike" spc="-1" dirty="0" err="1">
                          <a:solidFill>
                            <a:srgbClr val="000000"/>
                          </a:solidFill>
                          <a:latin typeface="Arial"/>
                        </a:rPr>
                        <a:t>Github</a:t>
                      </a:r>
                      <a:r>
                        <a:rPr lang="ru-RU" sz="18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 + </a:t>
                      </a:r>
                      <a:r>
                        <a:rPr lang="ru-RU" sz="1800" b="0" strike="noStrike" spc="-1" dirty="0" err="1">
                          <a:solidFill>
                            <a:srgbClr val="000000"/>
                          </a:solidFill>
                          <a:latin typeface="Arial"/>
                        </a:rPr>
                        <a:t>gitExtension</a:t>
                      </a:r>
                    </a:p>
                  </a:txBody>
                  <a:tcPr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strike="noStrike" spc="-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3.</a:t>
                      </a:r>
                      <a:endParaRPr lang="ru-RU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strike="noStrike" spc="-1" err="1">
                          <a:solidFill>
                            <a:srgbClr val="000000"/>
                          </a:solidFill>
                          <a:latin typeface="Arial"/>
                        </a:rPr>
                        <a:t>Docker+Kafka</a:t>
                      </a:r>
                      <a:endParaRPr lang="ru-RU" sz="1800" b="0" strike="noStrike" spc="-1" dirty="0" err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strike="noStrike" spc="-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4.</a:t>
                      </a:r>
                      <a:endParaRPr lang="ru-RU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VS Code + плагины</a:t>
                      </a:r>
                    </a:p>
                  </a:txBody>
                  <a:tcPr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" sz="1600" b="1" i="0" u="none" strike="noStrike" spc="-1" noProof="0" dirty="0">
                          <a:solidFill>
                            <a:srgbClr val="3F299A"/>
                          </a:solidFill>
                          <a:latin typeface="Roboto"/>
                        </a:rPr>
                        <a:t>5.</a:t>
                      </a:r>
                    </a:p>
                  </a:txBody>
                  <a:tcPr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strike="noStrike" spc="-1" err="1">
                          <a:solidFill>
                            <a:srgbClr val="000000"/>
                          </a:solidFill>
                          <a:latin typeface="Arial"/>
                        </a:rPr>
                        <a:t>Vanessa</a:t>
                      </a:r>
                      <a:r>
                        <a:rPr lang="ru-RU" sz="18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ru-RU" sz="1800" b="0" strike="noStrike" spc="-1" err="1">
                          <a:solidFill>
                            <a:srgbClr val="000000"/>
                          </a:solidFill>
                          <a:latin typeface="Arial"/>
                        </a:rPr>
                        <a:t>Automation</a:t>
                      </a:r>
                      <a:r>
                        <a:rPr lang="ru-RU" sz="18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 + </a:t>
                      </a:r>
                      <a:r>
                        <a:rPr lang="ru-RU" sz="1800" b="0" i="0" err="1">
                          <a:solidFill>
                            <a:srgbClr val="333333"/>
                          </a:solidFill>
                          <a:latin typeface="Arial"/>
                        </a:rPr>
                        <a:t>YAxUnit</a:t>
                      </a:r>
                    </a:p>
                  </a:txBody>
                  <a:tcPr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8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" sz="1600" b="1" i="0" u="none" strike="noStrike" spc="-1" noProof="0" dirty="0">
                          <a:solidFill>
                            <a:srgbClr val="3F299A"/>
                          </a:solidFill>
                          <a:latin typeface="Roboto"/>
                        </a:rPr>
                        <a:t>6.</a:t>
                      </a:r>
                    </a:p>
                  </a:txBody>
                  <a:tcPr marL="197999" marR="91080">
                    <a:lnL w="9360">
                      <a:solidFill>
                        <a:srgbClr val="BFC1F0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dirty="0">
                          <a:solidFill>
                            <a:srgbClr val="333333"/>
                          </a:solidFill>
                          <a:latin typeface="Arial"/>
                        </a:rPr>
                        <a:t>прочее</a:t>
                      </a:r>
                    </a:p>
                  </a:txBody>
                  <a:tcPr marL="197999" marR="9108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BFC1F0"/>
                      </a:solidFill>
                    </a:lnR>
                    <a:lnT w="9360">
                      <a:solidFill>
                        <a:srgbClr val="BFC1F0"/>
                      </a:solidFill>
                    </a:lnT>
                    <a:lnB w="9360">
                      <a:solidFill>
                        <a:srgbClr val="BFC1F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0336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D744E-6A22-5ED4-B3DE-79975C718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>
            <a:extLst>
              <a:ext uri="{FF2B5EF4-FFF2-40B4-BE49-F238E27FC236}">
                <a16:creationId xmlns:a16="http://schemas.microsoft.com/office/drawing/2014/main" id="{F3C542F3-7043-6F8B-9C90-B43C3041B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000" b="1" strike="noStrike" spc="-1">
                <a:solidFill>
                  <a:schemeClr val="dk1"/>
                </a:solidFill>
                <a:latin typeface="Roboto"/>
                <a:ea typeface="Roboto"/>
              </a:rPr>
              <a:t>Что получилось</a:t>
            </a:r>
            <a:endParaRPr lang="ru-RU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Рисунок 1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3C1A64E-0177-7B73-22D5-25C38A5CC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016" y="271811"/>
            <a:ext cx="2575258" cy="44953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FD3ED5-0775-5E75-3D61-5D36445B66A5}"/>
              </a:ext>
            </a:extLst>
          </p:cNvPr>
          <p:cNvSpPr txBox="1"/>
          <p:nvPr/>
        </p:nvSpPr>
        <p:spPr>
          <a:xfrm>
            <a:off x="640080" y="1516380"/>
            <a:ext cx="393191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cs typeface="Arial"/>
              </a:rPr>
              <a:t>При помощь инструмента </a:t>
            </a:r>
            <a:r>
              <a:rPr lang="ru-RU" b="1" dirty="0">
                <a:cs typeface="Arial"/>
              </a:rPr>
              <a:t>VS Code + </a:t>
            </a:r>
            <a:r>
              <a:rPr lang="ru-RU" b="1" dirty="0" err="1">
                <a:cs typeface="Arial"/>
              </a:rPr>
              <a:t>plant</a:t>
            </a:r>
            <a:r>
              <a:rPr lang="ru-RU" b="1" dirty="0">
                <a:cs typeface="Arial"/>
              </a:rPr>
              <a:t> UML</a:t>
            </a:r>
            <a:r>
              <a:rPr lang="ru-RU" dirty="0">
                <a:cs typeface="Arial"/>
              </a:rPr>
              <a:t> разработана диаграмма обмена между системами</a:t>
            </a:r>
            <a:endParaRPr lang="ru-RU" dirty="0"/>
          </a:p>
          <a:p>
            <a:endParaRPr lang="ru-RU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0868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4B0F0D-F0C6-519A-D149-23CC245E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476640"/>
          </a:xfrm>
        </p:spPr>
        <p:txBody>
          <a:bodyPr/>
          <a:lstStyle/>
          <a:p>
            <a:r>
              <a:rPr lang="ru-RU" sz="2000" b="1" dirty="0">
                <a:cs typeface="Arial"/>
              </a:rPr>
              <a:t>Процесс обмена документа "Оприходование"</a:t>
            </a:r>
            <a:br>
              <a:rPr lang="ru-RU" sz="2000" b="1" dirty="0">
                <a:cs typeface="Arial"/>
              </a:rPr>
            </a:br>
            <a:endParaRPr lang="ru-RU" sz="2000" b="1" dirty="0"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DF23B4-98D3-7238-26E3-566AE19BEA77}"/>
              </a:ext>
            </a:extLst>
          </p:cNvPr>
          <p:cNvSpPr txBox="1"/>
          <p:nvPr/>
        </p:nvSpPr>
        <p:spPr>
          <a:xfrm>
            <a:off x="345688" y="3971412"/>
            <a:ext cx="844844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cs typeface="Arial"/>
              </a:rPr>
              <a:t>Применение системы BPMN позволяет реализовать схему процесса</a:t>
            </a:r>
          </a:p>
        </p:txBody>
      </p:sp>
      <p:pic>
        <p:nvPicPr>
          <p:cNvPr id="4" name="Рисунок 3" descr="Изображение выглядит как текст, диаграмма, План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89AE620-AD18-E84D-2A71-DC5832291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46" y="804887"/>
            <a:ext cx="8670074" cy="280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310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DA3DA-EA78-077A-775D-E1C6BEDDD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6D8624-CC8D-B737-0BDB-C2EE45B16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476640"/>
          </a:xfrm>
        </p:spPr>
        <p:txBody>
          <a:bodyPr/>
          <a:lstStyle/>
          <a:p>
            <a:r>
              <a:rPr lang="ru-RU" sz="2000" b="1" dirty="0">
                <a:cs typeface="Arial"/>
              </a:rPr>
              <a:t>Процесс обмена документа "Перемещение"</a:t>
            </a:r>
            <a:br>
              <a:rPr lang="ru-RU" sz="2000" b="1" dirty="0">
                <a:cs typeface="Arial"/>
              </a:rPr>
            </a:br>
            <a:endParaRPr lang="ru-RU" sz="2000" b="1" dirty="0">
              <a:cs typeface="Arial"/>
            </a:endParaRPr>
          </a:p>
        </p:txBody>
      </p:sp>
      <p:pic>
        <p:nvPicPr>
          <p:cNvPr id="4" name="Рисунок 3" descr="Изображение выглядит как текст, диаграмма, План, Технический чертеж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0EE0F72-7E36-8093-F6FD-E42EB01C5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828570"/>
            <a:ext cx="8641080" cy="346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593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DCB56-104F-49F1-08AB-6434D60D3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CEBC37-C419-4C94-A075-09D8BAD1C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476640"/>
          </a:xfrm>
        </p:spPr>
        <p:txBody>
          <a:bodyPr/>
          <a:lstStyle/>
          <a:p>
            <a:r>
              <a:rPr lang="ru-RU" sz="2000" b="1" dirty="0">
                <a:cs typeface="Arial"/>
              </a:rPr>
              <a:t>Процесс обмена документа "Списание"</a:t>
            </a:r>
            <a:br>
              <a:rPr lang="ru-RU" sz="2000" b="1" dirty="0">
                <a:cs typeface="Arial"/>
              </a:rPr>
            </a:br>
            <a:endParaRPr lang="ru-RU" sz="2000" b="1" dirty="0">
              <a:cs typeface="Arial"/>
            </a:endParaRPr>
          </a:p>
        </p:txBody>
      </p:sp>
      <p:pic>
        <p:nvPicPr>
          <p:cNvPr id="4" name="Рисунок 3" descr="Изображение выглядит как текст, диаграмма, План, Технический чертеж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EC4FEE8-2D57-4743-1549-6A8461BC8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54" y="868696"/>
            <a:ext cx="8711892" cy="262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548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6A2204-846A-FCB8-3ADB-AEBB73B41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370" y="309931"/>
            <a:ext cx="8520120" cy="352304"/>
          </a:xfrm>
        </p:spPr>
        <p:txBody>
          <a:bodyPr/>
          <a:lstStyle/>
          <a:p>
            <a:r>
              <a:rPr lang="ru-RU" sz="2000" b="1" dirty="0">
                <a:cs typeface="Arial"/>
              </a:rPr>
              <a:t>ER-диаграмма</a:t>
            </a:r>
            <a:endParaRPr lang="ru-RU" sz="2000" b="1">
              <a:cs typeface="Arial"/>
            </a:endParaRPr>
          </a:p>
        </p:txBody>
      </p:sp>
      <p:pic>
        <p:nvPicPr>
          <p:cNvPr id="4" name="Рисунок 3" descr="Изображение выглядит как текст, диаграмма, План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3AEA252-1E8D-07EB-1EFB-70D3C61C2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34" y="929436"/>
            <a:ext cx="8976732" cy="32776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069D6B-01AE-6BD0-E873-5BD023BD1293}"/>
              </a:ext>
            </a:extLst>
          </p:cNvPr>
          <p:cNvSpPr txBox="1"/>
          <p:nvPr/>
        </p:nvSpPr>
        <p:spPr>
          <a:xfrm>
            <a:off x="419100" y="4389120"/>
            <a:ext cx="79552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cs typeface="Arial"/>
              </a:rPr>
              <a:t>ER-схема реализована с помощью внешней обработки построения схем</a:t>
            </a:r>
            <a:endParaRPr lang="ru-RU" sz="16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8787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843E4-1F57-5EE2-CA75-91328FEE3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1072E8-8F17-6DDC-D5FE-3A306AB9F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370" y="309931"/>
            <a:ext cx="8520120" cy="352304"/>
          </a:xfrm>
        </p:spPr>
        <p:txBody>
          <a:bodyPr/>
          <a:lstStyle/>
          <a:p>
            <a:r>
              <a:rPr lang="ru-RU" sz="2000" b="1" dirty="0">
                <a:cs typeface="Arial"/>
              </a:rPr>
              <a:t>Общий вид форм</a:t>
            </a:r>
            <a:endParaRPr lang="ru-RU" b="1">
              <a:cs typeface="Arial"/>
            </a:endParaRPr>
          </a:p>
        </p:txBody>
      </p:sp>
      <p:pic>
        <p:nvPicPr>
          <p:cNvPr id="3" name="Рисунок 2" descr="Изображение выглядит как текст, снимок экрана, число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D01835A-544D-15D1-C912-E45889015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088" y="312420"/>
            <a:ext cx="4495543" cy="45034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C45EA1-4076-91C0-CD17-0D504358769D}"/>
              </a:ext>
            </a:extLst>
          </p:cNvPr>
          <p:cNvSpPr txBox="1"/>
          <p:nvPr/>
        </p:nvSpPr>
        <p:spPr>
          <a:xfrm>
            <a:off x="373380" y="1036320"/>
            <a:ext cx="2910840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400" dirty="0">
                <a:cs typeface="Arial"/>
              </a:rPr>
              <a:t>Внешний вид форм максимально упрощен ввиду специфики операций и невысоким навыкам людей, которые будут с ними работать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8D6F25-0932-F4C4-55FF-F9F3B10607DC}"/>
              </a:ext>
            </a:extLst>
          </p:cNvPr>
          <p:cNvSpPr txBox="1"/>
          <p:nvPr/>
        </p:nvSpPr>
        <p:spPr>
          <a:xfrm>
            <a:off x="373379" y="3162300"/>
            <a:ext cx="2842259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400" dirty="0">
                <a:cs typeface="Arial"/>
              </a:rPr>
              <a:t>Внешняя обработка "1C Накидка" с помощью ИИ-технологий позволяет нарисовать 1С форму не заходя в конфигуратор</a:t>
            </a:r>
          </a:p>
        </p:txBody>
      </p:sp>
    </p:spTree>
    <p:extLst>
      <p:ext uri="{BB962C8B-B14F-4D97-AF65-F5344CB8AC3E}">
        <p14:creationId xmlns:p14="http://schemas.microsoft.com/office/powerpoint/2010/main" val="2622623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B87B9-9E44-6373-691C-B6F8DFBB1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FDD6FF-CE98-7128-7801-D84DBAB7E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370" y="309931"/>
            <a:ext cx="8520120" cy="352304"/>
          </a:xfrm>
        </p:spPr>
        <p:txBody>
          <a:bodyPr/>
          <a:lstStyle/>
          <a:p>
            <a:r>
              <a:rPr lang="ru-RU" sz="2000" b="1" dirty="0">
                <a:cs typeface="Arial"/>
              </a:rPr>
              <a:t>Сценарное тестирование</a:t>
            </a:r>
            <a:endParaRPr lang="ru-RU" b="1">
              <a:cs typeface="Arial"/>
            </a:endParaRPr>
          </a:p>
        </p:txBody>
      </p:sp>
      <p:pic>
        <p:nvPicPr>
          <p:cNvPr id="6" name="Рисунок 5" descr="Изображение выглядит как текст, электроника, снимок экрана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2B25797-EBF5-35B9-368E-FFAA1147C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412" y="792480"/>
            <a:ext cx="5734697" cy="4038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D27119-23DC-700D-59B3-3F396C091144}"/>
              </a:ext>
            </a:extLst>
          </p:cNvPr>
          <p:cNvSpPr txBox="1"/>
          <p:nvPr/>
        </p:nvSpPr>
        <p:spPr>
          <a:xfrm>
            <a:off x="259080" y="1287780"/>
            <a:ext cx="2575560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cs typeface="Arial"/>
              </a:rPr>
              <a:t>Инструмент </a:t>
            </a:r>
            <a:r>
              <a:rPr lang="ru-RU" sz="1600" dirty="0" err="1">
                <a:cs typeface="Arial"/>
              </a:rPr>
              <a:t>Vanessa-automation</a:t>
            </a:r>
            <a:r>
              <a:rPr lang="ru-RU" sz="1600" dirty="0">
                <a:cs typeface="Arial"/>
              </a:rPr>
              <a:t> дает возможность протестировать пользовательские сценарии взаимодействия в разных базах</a:t>
            </a:r>
          </a:p>
        </p:txBody>
      </p:sp>
    </p:spTree>
    <p:extLst>
      <p:ext uri="{BB962C8B-B14F-4D97-AF65-F5344CB8AC3E}">
        <p14:creationId xmlns:p14="http://schemas.microsoft.com/office/powerpoint/2010/main" val="270139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2A45A-875F-6404-A89B-E548F0F79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418868-5F84-E4E4-C2C4-2984CAB2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370" y="309931"/>
            <a:ext cx="8520120" cy="352304"/>
          </a:xfrm>
        </p:spPr>
        <p:txBody>
          <a:bodyPr/>
          <a:lstStyle/>
          <a:p>
            <a:r>
              <a:rPr lang="ru-RU" sz="2000" b="1" dirty="0">
                <a:cs typeface="Arial"/>
              </a:rPr>
              <a:t>Unit-тесты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E4EE28-50FE-13AC-59F1-0D8A393021F8}"/>
              </a:ext>
            </a:extLst>
          </p:cNvPr>
          <p:cNvSpPr txBox="1"/>
          <p:nvPr/>
        </p:nvSpPr>
        <p:spPr>
          <a:xfrm>
            <a:off x="198120" y="929640"/>
            <a:ext cx="2689860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cs typeface="Arial"/>
              </a:rPr>
              <a:t>Благодаря Unit тестам всегда можем выявить ошибки как при разработке нового, так и при изменении текущего функционала. </a:t>
            </a:r>
          </a:p>
          <a:p>
            <a:r>
              <a:rPr lang="ru-RU" sz="1600" dirty="0">
                <a:cs typeface="Arial"/>
              </a:rPr>
              <a:t>Своевременная разработка таких тестов способствует написанию сложных алгоритмов путем разбиения на множество более простых</a:t>
            </a:r>
          </a:p>
        </p:txBody>
      </p:sp>
      <p:pic>
        <p:nvPicPr>
          <p:cNvPr id="3" name="Рисунок 2" descr="Изображение выглядит как текст, снимок экрана, программное обеспечение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1F984F8-193C-FD2F-50E7-F053C44ED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380" y="661620"/>
            <a:ext cx="5715000" cy="269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423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CCDFC-91C4-D424-AE7E-045CE8907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5710A8-3749-8E18-6366-B3AD95A95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370" y="309931"/>
            <a:ext cx="8520120" cy="352304"/>
          </a:xfrm>
        </p:spPr>
        <p:txBody>
          <a:bodyPr/>
          <a:lstStyle/>
          <a:p>
            <a:r>
              <a:rPr lang="ru-RU" sz="2000" b="1" dirty="0">
                <a:cs typeface="Arial"/>
              </a:rPr>
              <a:t>APDEX</a:t>
            </a:r>
            <a:endParaRPr lang="ru-RU" b="1" dirty="0"/>
          </a:p>
        </p:txBody>
      </p:sp>
      <p:pic>
        <p:nvPicPr>
          <p:cNvPr id="4" name="Рисунок 3" descr="Изображение выглядит как текст, диаграмма, снимок экран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8D97800-9721-90E6-49B4-5E892A910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940" y="662691"/>
            <a:ext cx="6263640" cy="35209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5F3004-FE98-753A-B043-C4A813AF821B}"/>
              </a:ext>
            </a:extLst>
          </p:cNvPr>
          <p:cNvSpPr txBox="1"/>
          <p:nvPr/>
        </p:nvSpPr>
        <p:spPr>
          <a:xfrm>
            <a:off x="312420" y="1120139"/>
            <a:ext cx="21336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cs typeface="Arial"/>
              </a:rPr>
              <a:t>Встроенные модули БСП позволяют анализировать производительность механизмов и своевременно принимать меры по оптимизации функционала</a:t>
            </a:r>
            <a:endParaRPr lang="ru-RU" sz="16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4173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20120" cy="109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400" b="1" strike="noStrike" spc="-1">
                <a:solidFill>
                  <a:schemeClr val="dk1"/>
                </a:solidFill>
                <a:latin typeface="Roboto"/>
                <a:ea typeface="Roboto"/>
              </a:rPr>
              <a:t>Выводы</a:t>
            </a:r>
            <a:endParaRPr lang="ru-RU" sz="34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ru-RU" sz="30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9" name="Google Shape;213;p42"/>
          <p:cNvGraphicFramePr/>
          <p:nvPr>
            <p:extLst>
              <p:ext uri="{D42A27DB-BD31-4B8C-83A1-F6EECF244321}">
                <p14:modId xmlns:p14="http://schemas.microsoft.com/office/powerpoint/2010/main" val="2312019295"/>
              </p:ext>
            </p:extLst>
          </p:nvPr>
        </p:nvGraphicFramePr>
        <p:xfrm>
          <a:off x="882865" y="1432530"/>
          <a:ext cx="7238519" cy="3383280"/>
        </p:xfrm>
        <a:graphic>
          <a:graphicData uri="http://schemas.openxmlformats.org/drawingml/2006/table">
            <a:tbl>
              <a:tblPr/>
              <a:tblGrid>
                <a:gridCol w="489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strike="noStrike" spc="-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1.</a:t>
                      </a:r>
                      <a:endParaRPr lang="ru-RU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Комплексное использование современных механизмов проектирования и разработки упорядочивает процесс и позволяет избегать ошибок построения бизнес-логики, программирования, конфликтов взаимодействия</a:t>
                      </a:r>
                    </a:p>
                  </a:txBody>
                  <a:tcPr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strike="noStrike" spc="-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2.</a:t>
                      </a:r>
                      <a:endParaRPr lang="ru-RU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spc="-1" noProof="0" dirty="0">
                          <a:solidFill>
                            <a:srgbClr val="000000"/>
                          </a:solidFill>
                          <a:latin typeface="Arial"/>
                        </a:rPr>
                        <a:t>Применение технологии </a:t>
                      </a:r>
                      <a:r>
                        <a:rPr lang="ru-RU" sz="1800" b="0" i="0" u="none" strike="noStrike" spc="-1" noProof="0" dirty="0" err="1">
                          <a:solidFill>
                            <a:srgbClr val="000000"/>
                          </a:solidFill>
                          <a:latin typeface="Arial"/>
                        </a:rPr>
                        <a:t>Git</a:t>
                      </a:r>
                      <a:r>
                        <a:rPr lang="ru-RU" sz="1800" b="0" i="0" u="none" strike="noStrike" spc="-1" noProof="0" dirty="0">
                          <a:solidFill>
                            <a:srgbClr val="000000"/>
                          </a:solidFill>
                          <a:latin typeface="Arial"/>
                        </a:rPr>
                        <a:t> позволяет избегать потерь доработок и других полезных файлов. Применение шаблона упорядочивает хранение данных проекта</a:t>
                      </a:r>
                      <a:endParaRPr lang="ru-RU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strike="noStrike" spc="-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</a:rPr>
                        <a:t>3.</a:t>
                      </a:r>
                      <a:endParaRPr lang="ru-RU" sz="16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800" b="0" i="0" u="none" strike="noStrike" spc="-1" noProof="0" dirty="0">
                          <a:solidFill>
                            <a:srgbClr val="000000"/>
                          </a:solidFill>
                          <a:latin typeface="Arial"/>
                        </a:rPr>
                        <a:t>Автоматизированное тестирование ускоряет процесс разработки на дистанции</a:t>
                      </a:r>
                    </a:p>
                  </a:txBody>
                  <a:tcPr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88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" sz="1600" b="1" i="0" u="none" strike="noStrike" spc="-1" noProof="0" dirty="0">
                          <a:solidFill>
                            <a:srgbClr val="3F299A"/>
                          </a:solidFill>
                          <a:latin typeface="Roboto"/>
                        </a:rPr>
                        <a:t>4.</a:t>
                      </a:r>
                    </a:p>
                  </a:txBody>
                  <a:tcPr marL="198000" marR="91080">
                    <a:lnL w="9360">
                      <a:solidFill>
                        <a:srgbClr val="BFC1F0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spc="-1" noProof="0" dirty="0">
                          <a:solidFill>
                            <a:srgbClr val="000000"/>
                          </a:solidFill>
                          <a:latin typeface="Arial"/>
                        </a:rPr>
                        <a:t>Построение схем и процессов до начала разработки упрощает сам процесс</a:t>
                      </a:r>
                    </a:p>
                  </a:txBody>
                  <a:tcPr marL="198000" marR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BFC1F0"/>
                      </a:solidFill>
                      <a:prstDash val="solid"/>
                    </a:lnR>
                    <a:lnT w="9360">
                      <a:solidFill>
                        <a:srgbClr val="BFC1F0"/>
                      </a:solidFill>
                      <a:prstDash val="solid"/>
                    </a:lnT>
                    <a:lnB w="9360">
                      <a:solidFill>
                        <a:srgbClr val="BFC1F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221;p43"/>
          <p:cNvPicPr/>
          <p:nvPr/>
        </p:nvPicPr>
        <p:blipFill>
          <a:blip r:embed="rId2"/>
          <a:stretch/>
        </p:blipFill>
        <p:spPr>
          <a:xfrm>
            <a:off x="0" y="0"/>
            <a:ext cx="9215640" cy="5143320"/>
          </a:xfrm>
          <a:prstGeom prst="rect">
            <a:avLst/>
          </a:prstGeom>
          <a:ln w="0">
            <a:noFill/>
          </a:ln>
        </p:spPr>
      </p:pic>
      <p:sp>
        <p:nvSpPr>
          <p:cNvPr id="144" name="Google Shape;222;p43"/>
          <p:cNvSpPr/>
          <p:nvPr/>
        </p:nvSpPr>
        <p:spPr>
          <a:xfrm>
            <a:off x="387000" y="1844640"/>
            <a:ext cx="758412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ru" sz="4000" b="1" strike="noStrike" spc="-1">
                <a:solidFill>
                  <a:schemeClr val="lt1"/>
                </a:solidFill>
                <a:latin typeface="Roboto"/>
                <a:ea typeface="Roboto"/>
              </a:rPr>
              <a:t>Вопросы и рекомендации</a:t>
            </a:r>
            <a:endParaRPr lang="ru-RU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Google Shape;223;p43"/>
          <p:cNvSpPr/>
          <p:nvPr/>
        </p:nvSpPr>
        <p:spPr>
          <a:xfrm>
            <a:off x="1214640" y="3061800"/>
            <a:ext cx="19270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FFFFFF"/>
                </a:solidFill>
                <a:latin typeface="Roboto"/>
                <a:ea typeface="Roboto"/>
              </a:rPr>
              <a:t>если есть вопросы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Google Shape;224;p43"/>
          <p:cNvSpPr/>
          <p:nvPr/>
        </p:nvSpPr>
        <p:spPr>
          <a:xfrm>
            <a:off x="4934880" y="3061800"/>
            <a:ext cx="21456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strike="noStrike" spc="-1">
                <a:solidFill>
                  <a:srgbClr val="FFFFFF"/>
                </a:solidFill>
                <a:latin typeface="Roboto"/>
                <a:ea typeface="Roboto"/>
              </a:rPr>
              <a:t>если вопросов нет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Google Shape;225;p43"/>
          <p:cNvSpPr/>
          <p:nvPr/>
        </p:nvSpPr>
        <p:spPr>
          <a:xfrm>
            <a:off x="722880" y="2846520"/>
            <a:ext cx="491400" cy="83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4300" b="0" strike="noStrike" spc="-1">
                <a:solidFill>
                  <a:schemeClr val="lt1"/>
                </a:solidFill>
                <a:latin typeface="Roboto"/>
                <a:ea typeface="Roboto"/>
              </a:rPr>
              <a:t>+</a:t>
            </a:r>
            <a:endParaRPr lang="ru-RU" sz="4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Google Shape;226;p43"/>
          <p:cNvSpPr/>
          <p:nvPr/>
        </p:nvSpPr>
        <p:spPr>
          <a:xfrm>
            <a:off x="4443480" y="2846520"/>
            <a:ext cx="491400" cy="83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4300" b="0" strike="noStrike" spc="-1">
                <a:solidFill>
                  <a:schemeClr val="lt1"/>
                </a:solidFill>
                <a:latin typeface="Roboto"/>
                <a:ea typeface="Roboto"/>
              </a:rPr>
              <a:t>– </a:t>
            </a:r>
            <a:endParaRPr lang="ru-RU" sz="43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234;p44"/>
          <p:cNvPicPr/>
          <p:nvPr/>
        </p:nvPicPr>
        <p:blipFill>
          <a:blip r:embed="rId2"/>
          <a:stretch/>
        </p:blipFill>
        <p:spPr>
          <a:xfrm>
            <a:off x="0" y="0"/>
            <a:ext cx="9215640" cy="5143320"/>
          </a:xfrm>
          <a:prstGeom prst="rect">
            <a:avLst/>
          </a:prstGeom>
          <a:ln w="0">
            <a:noFill/>
          </a:ln>
        </p:spPr>
      </p:pic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628920" y="1932480"/>
            <a:ext cx="7294680" cy="1955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5000" b="1" strike="noStrike" spc="-1">
                <a:solidFill>
                  <a:schemeClr val="lt1"/>
                </a:solidFill>
                <a:latin typeface="Roboto"/>
                <a:ea typeface="Roboto"/>
              </a:rPr>
              <a:t>Спасибо за внимание!</a:t>
            </a:r>
            <a:endParaRPr lang="ru-RU" sz="5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4" name="Google Shape;236;p44"/>
          <p:cNvPicPr/>
          <p:nvPr/>
        </p:nvPicPr>
        <p:blipFill>
          <a:blip r:embed="rId3"/>
          <a:stretch/>
        </p:blipFill>
        <p:spPr>
          <a:xfrm>
            <a:off x="6727320" y="231840"/>
            <a:ext cx="2270520" cy="3042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Microsoft Office PowerPoint</Application>
  <PresentationFormat>Экран (16:9)</PresentationFormat>
  <Slides>18</Slides>
  <Notes>0</Notes>
  <HiddenSlides>0</HiddenSlides>
  <ScaleCrop>false</ScaleCrop>
  <HeadingPairs>
    <vt:vector size="4" baseType="variant">
      <vt:variant>
        <vt:lpstr>Тема</vt:lpstr>
      </vt:variant>
      <vt:variant>
        <vt:i4>13</vt:i4>
      </vt:variant>
      <vt:variant>
        <vt:lpstr>Заголовки слайдов</vt:lpstr>
      </vt:variant>
      <vt:variant>
        <vt:i4>18</vt:i4>
      </vt:variant>
    </vt:vector>
  </HeadingPairs>
  <TitlesOfParts>
    <vt:vector size="31" baseType="lpstr"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Управление распределенным складом   </vt:lpstr>
      <vt:lpstr>План защиты</vt:lpstr>
      <vt:lpstr>Презентация PowerPoint</vt:lpstr>
      <vt:lpstr>Какие технологии использовались </vt:lpstr>
      <vt:lpstr>Что получилось</vt:lpstr>
      <vt:lpstr>Процесс обмена документа "Оприходование" </vt:lpstr>
      <vt:lpstr>Процесс обмена документа "Перемещение" </vt:lpstr>
      <vt:lpstr>Процесс обмена документа "Списание" </vt:lpstr>
      <vt:lpstr>ER-диаграмма</vt:lpstr>
      <vt:lpstr>Общий вид форм</vt:lpstr>
      <vt:lpstr>Сценарное тестирование</vt:lpstr>
      <vt:lpstr>Unit-тесты</vt:lpstr>
      <vt:lpstr>APDEX</vt:lpstr>
      <vt:lpstr>Выводы 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/>
  <cp:revision>412</cp:revision>
  <dcterms:modified xsi:type="dcterms:W3CDTF">2025-12-05T16:40:44Z</dcterms:modified>
  <dc:language>ru-RU</dc:language>
</cp:coreProperties>
</file>